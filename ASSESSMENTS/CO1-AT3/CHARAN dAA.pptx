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49BF-28AC-8CD8-E185-BD0172D74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1C69A-7179-872F-43E8-A82FE87DF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DE728-FC2A-1272-F528-A8D5BDED7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E0B9F-18E9-181A-AFF8-15301ECEB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7BE8D-A44F-47D9-8799-B3F3775F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25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3942-83BA-C1CB-0FFC-239FB28E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46C0-1F46-E1DD-CCB4-B053C727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059AC-95AA-3B14-F0F7-6C3EA2D06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C314C-929C-9B4E-C02E-F1C07A21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6C459-43D3-0B46-58C3-504E94D1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87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87BF-7484-74D8-9C27-E04618616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88907-E4CB-8BDE-A41F-9C31CB397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E66EB-F610-023E-666C-B8E5FE62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A05DC-20EA-1EC7-87DF-5994E0F2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23AFE-9ED5-E4CF-04A7-30E14369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54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DBB5-4A75-3204-C3C6-B74BDD42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54D7-868E-BCE6-5D0B-1973CCD6C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02F72-FEEE-0CF1-451A-814C9A0F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8590A-A091-7A9B-44AE-DE31F273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0DFF0-2789-E406-B855-4F8CAB56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9D854-20EB-D67A-7E22-782D1269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79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C685-6562-3213-7C1D-BCC1C36A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072B2-CE76-4675-7D4B-970F74CC5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FB585-0975-5795-654D-2B6FB8732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22F7F-63D5-81EB-65D9-876963478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CBED9-EC83-4541-6CEC-0C2AFF0CD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9273A-787D-B5DF-78F0-6C332AFB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95EFC-6BCC-13AE-2E9E-4CA3BC3E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B0812B-8B61-C1FA-7126-282E62E7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59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A541-A9C7-B469-D0E8-8E2DB81A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43912-0C55-D0FF-99C8-3FD028DC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455A0-F1C8-FB80-1431-D901CCB3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BFDD9-CCDC-4A59-80D4-BB820AED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7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B6A30-ADA8-573D-0DA8-DC173412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D931F-9BD6-B9D1-3EA1-0254BF31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C9D72-F07B-2B5E-4A2A-BBC97E17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38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238E-51A0-F28C-1F92-A7CCD4CC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66BC-E973-D375-3039-B42D6B46E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9ABC0-321A-B18C-1679-CA0DC8DD8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05A54-127C-DCDD-2E79-F1F05319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8A1A4-3E4D-EB67-34FB-9C1663E2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20120-53EB-CD1C-C548-12F6AEA9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83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A7A3-AFA9-39D5-A17C-9AB7A9BD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CFEC0-9EF2-9C60-5F1F-EF8106BD3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EDD8F-CFA2-9C68-2341-54E49A519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DB298-556F-CB11-7A3D-FD9E74E28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DC39-0A01-B93B-97F6-D57F684F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20506-8906-1ECE-0C04-EE58FC7B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62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B58A-24E4-EA2D-A4E0-F88F80D8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1C895-0B53-E1E8-8D5E-248C168BB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0BD36-8632-10E5-5C27-AA24EB59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5D510-D2CE-9FC6-E65D-58BCE358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6F405-8A03-F1C7-C983-5709A796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E8BD06-9601-4B14-32AE-CCF52D6A6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FA24B-4F71-72AE-1403-22C34A80F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8A384-D127-ED7B-DF41-BAB4EB45D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C15C0-0CCE-3B48-63C4-C140E5C4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F529C-5478-AF8E-2470-6979D552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76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6E215-F62A-4A38-2CEF-FDF01064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71947-A90A-47C6-43FE-3FEF66134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86E90-1667-2899-C5A5-3966145EE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207C6-FD6F-4CD1-B596-AA978D5ACB3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E9FC-4842-7933-6F91-B4A159639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A10FE-35A6-264D-6894-19A70E1A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A963F-07BD-4B62-84EA-25A0B1E9E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54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B3B1-2917-860F-E117-4CB368E8B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400"/>
            <a:ext cx="9144000" cy="153488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Space complexity of recursive vs iterative methods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0208990-7B87-A7B2-1103-9A81875F9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5686"/>
            <a:ext cx="3712029" cy="2188028"/>
          </a:xfrm>
        </p:spPr>
        <p:txBody>
          <a:bodyPr/>
          <a:lstStyle/>
          <a:p>
            <a:r>
              <a:rPr lang="en-US" dirty="0"/>
              <a:t>NAME:- VEMALA CHARAN</a:t>
            </a:r>
          </a:p>
          <a:p>
            <a:r>
              <a:rPr lang="en-US" dirty="0"/>
              <a:t>REG NO:- 192525271</a:t>
            </a:r>
          </a:p>
          <a:p>
            <a:r>
              <a:rPr lang="en-US" dirty="0"/>
              <a:t>DEPARTMENT:- AI&amp; 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198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4DF2-9F03-48CA-A4F7-D175E740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314" y="365125"/>
            <a:ext cx="8240485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INTRUDUCTION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969A0-4258-5F9A-AF50-D557522EA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2" y="2024743"/>
            <a:ext cx="10951029" cy="4293734"/>
          </a:xfrm>
        </p:spPr>
        <p:txBody>
          <a:bodyPr/>
          <a:lstStyle/>
          <a:p>
            <a:r>
              <a:rPr lang="en-US" dirty="0"/>
              <a:t>Space complexity is the amount of memory required by an algorithm during execution.</a:t>
            </a:r>
          </a:p>
          <a:p>
            <a:r>
              <a:rPr lang="en-US" dirty="0"/>
              <a:t> It includes memory used by variables, data structures, and function calls</a:t>
            </a:r>
          </a:p>
          <a:p>
            <a:r>
              <a:rPr lang="en-US" dirty="0"/>
              <a:t> Recursive algorithms require additional memory for the call stack</a:t>
            </a:r>
          </a:p>
          <a:p>
            <a:r>
              <a:rPr lang="en-US" dirty="0"/>
              <a:t>Comparing both methods helps in selecting the most efficient solution.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32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A520-45F4-8D2C-56F8-2BD75334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770" y="365125"/>
            <a:ext cx="3526973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ALGORITHM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7D9F7-1D63-296B-A6C9-DE391CFE7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1690688"/>
            <a:ext cx="10798629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Algorithm 1: Recursive Factorial</a:t>
            </a:r>
          </a:p>
          <a:p>
            <a:r>
              <a:rPr lang="en-IN" dirty="0"/>
              <a:t>Input: Integer n</a:t>
            </a:r>
          </a:p>
          <a:p>
            <a:r>
              <a:rPr lang="en-IN" dirty="0"/>
              <a:t>Output: Factorial of n</a:t>
            </a:r>
          </a:p>
          <a:p>
            <a:r>
              <a:rPr lang="en-IN" dirty="0"/>
              <a:t>Start.</a:t>
            </a:r>
          </a:p>
          <a:p>
            <a:r>
              <a:rPr lang="en-IN" dirty="0"/>
              <a:t>Read integer n.</a:t>
            </a:r>
          </a:p>
          <a:p>
            <a:r>
              <a:rPr lang="en-IN" dirty="0"/>
              <a:t>If n == 0 or n == 1, return 1.</a:t>
            </a:r>
          </a:p>
          <a:p>
            <a:r>
              <a:rPr lang="en-IN" dirty="0"/>
              <a:t>Otherwise, return n × Factorial(n-1).</a:t>
            </a:r>
          </a:p>
          <a:p>
            <a:r>
              <a:rPr lang="en-IN" dirty="0"/>
              <a:t>Stop.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0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46900-6F94-0FF7-B2AD-BCF39F7BA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" y="413657"/>
            <a:ext cx="10755086" cy="5763306"/>
          </a:xfrm>
        </p:spPr>
        <p:txBody>
          <a:bodyPr>
            <a:normAutofit/>
          </a:bodyPr>
          <a:lstStyle/>
          <a:p>
            <a:pPr marL="3657600" lvl="8" indent="0">
              <a:buNone/>
            </a:pPr>
            <a:r>
              <a:rPr lang="en-IN" sz="2800" dirty="0">
                <a:solidFill>
                  <a:srgbClr val="FF0000"/>
                </a:solidFill>
              </a:rPr>
              <a:t>Algorithm 2: Iterative Factorial</a:t>
            </a:r>
          </a:p>
          <a:p>
            <a:r>
              <a:rPr lang="en-IN" dirty="0"/>
              <a:t>Output: Factorial of n</a:t>
            </a:r>
          </a:p>
          <a:p>
            <a:r>
              <a:rPr lang="en-IN" dirty="0"/>
              <a:t>Start.</a:t>
            </a:r>
          </a:p>
          <a:p>
            <a:r>
              <a:rPr lang="en-IN" dirty="0"/>
              <a:t>Read integer n.</a:t>
            </a:r>
          </a:p>
          <a:p>
            <a:r>
              <a:rPr lang="en-IN" dirty="0"/>
              <a:t>Initialize result = 1.</a:t>
            </a:r>
          </a:p>
          <a:p>
            <a:r>
              <a:rPr lang="en-IN" dirty="0"/>
              <a:t>Repeat from </a:t>
            </a:r>
            <a:r>
              <a:rPr lang="en-IN" dirty="0" err="1"/>
              <a:t>i</a:t>
            </a:r>
            <a:r>
              <a:rPr lang="en-IN" dirty="0"/>
              <a:t> = 1 to n.</a:t>
            </a:r>
          </a:p>
          <a:p>
            <a:r>
              <a:rPr lang="en-IN" dirty="0"/>
              <a:t>Multiply result = result × </a:t>
            </a:r>
            <a:r>
              <a:rPr lang="en-IN" dirty="0" err="1"/>
              <a:t>i</a:t>
            </a:r>
            <a:r>
              <a:rPr lang="en-IN" dirty="0"/>
              <a:t>.</a:t>
            </a:r>
          </a:p>
          <a:p>
            <a:r>
              <a:rPr lang="en-IN" dirty="0"/>
              <a:t>Input: Integer n</a:t>
            </a:r>
          </a:p>
          <a:p>
            <a:r>
              <a:rPr lang="en-IN" dirty="0"/>
              <a:t>Display result.</a:t>
            </a:r>
          </a:p>
          <a:p>
            <a:r>
              <a:rPr lang="en-IN" dirty="0"/>
              <a:t>Stop.</a:t>
            </a:r>
          </a:p>
        </p:txBody>
      </p:sp>
    </p:spTree>
    <p:extLst>
      <p:ext uri="{BB962C8B-B14F-4D97-AF65-F5344CB8AC3E}">
        <p14:creationId xmlns:p14="http://schemas.microsoft.com/office/powerpoint/2010/main" val="385661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3EE3-B10E-AF2C-984C-3267517D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6879771" cy="71256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ARCHITECTURE DESIGN:-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E3B3-8205-9C13-E3F1-FE844B42B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230" y="1077687"/>
            <a:ext cx="2743200" cy="4979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Recursive Method</a:t>
            </a:r>
          </a:p>
          <a:p>
            <a:r>
              <a:rPr lang="en-IN" sz="1800" dirty="0"/>
              <a:t>Main Program</a:t>
            </a:r>
          </a:p>
          <a:p>
            <a:r>
              <a:rPr lang="en-IN" sz="1800" dirty="0"/>
              <a:t>      |</a:t>
            </a:r>
          </a:p>
          <a:p>
            <a:r>
              <a:rPr lang="en-IN" sz="1800" dirty="0"/>
              <a:t>      V</a:t>
            </a:r>
          </a:p>
          <a:p>
            <a:r>
              <a:rPr lang="en-IN" sz="1800" dirty="0"/>
              <a:t>Recursive Function</a:t>
            </a:r>
          </a:p>
          <a:p>
            <a:r>
              <a:rPr lang="en-IN" sz="1800" dirty="0"/>
              <a:t>      |</a:t>
            </a:r>
          </a:p>
          <a:p>
            <a:r>
              <a:rPr lang="en-IN" sz="1800" dirty="0"/>
              <a:t>      V</a:t>
            </a:r>
          </a:p>
          <a:p>
            <a:r>
              <a:rPr lang="en-IN" sz="1800" dirty="0"/>
              <a:t>+------------------+</a:t>
            </a:r>
          </a:p>
          <a:p>
            <a:r>
              <a:rPr lang="en-IN" sz="1800" dirty="0"/>
              <a:t>| Factorial(5)     |</a:t>
            </a:r>
          </a:p>
          <a:p>
            <a:r>
              <a:rPr lang="en-IN" sz="1800" dirty="0"/>
              <a:t>| Factorial(4)     |</a:t>
            </a:r>
          </a:p>
          <a:p>
            <a:r>
              <a:rPr lang="en-IN" sz="1800" dirty="0"/>
              <a:t>| Factorial(3)     |</a:t>
            </a:r>
          </a:p>
          <a:p>
            <a:r>
              <a:rPr lang="en-IN" sz="1800" dirty="0"/>
              <a:t>| Factorial(2)     |</a:t>
            </a:r>
          </a:p>
          <a:p>
            <a:r>
              <a:rPr lang="en-IN" sz="1800" dirty="0"/>
              <a:t>| Factorial(1)     |</a:t>
            </a:r>
          </a:p>
          <a:p>
            <a:r>
              <a:rPr lang="en-IN" sz="1800" dirty="0"/>
              <a:t>+------------------+</a:t>
            </a:r>
          </a:p>
          <a:p>
            <a:r>
              <a:rPr lang="en-IN" sz="1800" dirty="0"/>
              <a:t>(Call Stack)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14911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E8AD-E771-1477-6BFE-DCABF04B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640286" cy="82141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ALTERATIVE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METHOD</a:t>
            </a:r>
            <a:r>
              <a:rPr lang="en-US" dirty="0"/>
              <a:t>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DEC2-7A18-CE95-A2E7-B4D589023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543" y="1436914"/>
            <a:ext cx="2623458" cy="4740049"/>
          </a:xfrm>
        </p:spPr>
        <p:txBody>
          <a:bodyPr>
            <a:noAutofit/>
          </a:bodyPr>
          <a:lstStyle/>
          <a:p>
            <a:r>
              <a:rPr lang="en-IN" sz="2000" dirty="0"/>
              <a:t>Main Program</a:t>
            </a:r>
          </a:p>
          <a:p>
            <a:r>
              <a:rPr lang="en-IN" sz="2000" dirty="0"/>
              <a:t>      |</a:t>
            </a:r>
          </a:p>
          <a:p>
            <a:r>
              <a:rPr lang="en-IN" sz="2000" dirty="0"/>
              <a:t>      V</a:t>
            </a:r>
          </a:p>
          <a:p>
            <a:r>
              <a:rPr lang="en-IN" sz="2000" dirty="0"/>
              <a:t>Loop (for)</a:t>
            </a:r>
          </a:p>
          <a:p>
            <a:r>
              <a:rPr lang="en-IN" sz="2000" dirty="0"/>
              <a:t>      |</a:t>
            </a:r>
          </a:p>
          <a:p>
            <a:r>
              <a:rPr lang="en-IN" sz="2000" dirty="0"/>
              <a:t>      V</a:t>
            </a:r>
          </a:p>
          <a:p>
            <a:r>
              <a:rPr lang="en-IN" sz="2000" dirty="0"/>
              <a:t>+------------------+</a:t>
            </a:r>
          </a:p>
          <a:p>
            <a:r>
              <a:rPr lang="en-IN" sz="2000" dirty="0"/>
              <a:t>| n                |</a:t>
            </a:r>
          </a:p>
          <a:p>
            <a:r>
              <a:rPr lang="en-IN" sz="2000" dirty="0"/>
              <a:t>| result           |</a:t>
            </a:r>
          </a:p>
          <a:p>
            <a:r>
              <a:rPr lang="en-IN" sz="2000" dirty="0"/>
              <a:t>| </a:t>
            </a:r>
            <a:r>
              <a:rPr lang="en-IN" sz="2000" dirty="0" err="1"/>
              <a:t>i</a:t>
            </a:r>
            <a:r>
              <a:rPr lang="en-IN" sz="2000" dirty="0"/>
              <a:t>                |</a:t>
            </a:r>
          </a:p>
          <a:p>
            <a:r>
              <a:rPr lang="en-IN" sz="2000" dirty="0"/>
              <a:t>+------------------+</a:t>
            </a:r>
          </a:p>
          <a:p>
            <a:r>
              <a:rPr lang="en-IN" sz="2000" dirty="0"/>
              <a:t>(Constant Memory)</a:t>
            </a:r>
          </a:p>
        </p:txBody>
      </p:sp>
    </p:spTree>
    <p:extLst>
      <p:ext uri="{BB962C8B-B14F-4D97-AF65-F5344CB8AC3E}">
        <p14:creationId xmlns:p14="http://schemas.microsoft.com/office/powerpoint/2010/main" val="24018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BDF1-D4BA-97EF-C572-4D0C2EA9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IMPLEMENTATION CODE:-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89CAD-6BCC-E10E-EA89-DF966F78A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685"/>
            <a:ext cx="5704114" cy="4337277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Implementation Code</a:t>
            </a:r>
          </a:p>
          <a:p>
            <a:r>
              <a:rPr lang="en-IN" dirty="0"/>
              <a:t>Recursive (Python)</a:t>
            </a:r>
          </a:p>
          <a:p>
            <a:r>
              <a:rPr lang="en-IN" dirty="0"/>
              <a:t>def </a:t>
            </a:r>
            <a:r>
              <a:rPr lang="en-IN" dirty="0" err="1"/>
              <a:t>factorial_recursive</a:t>
            </a:r>
            <a:r>
              <a:rPr lang="en-IN" dirty="0"/>
              <a:t>(n):</a:t>
            </a:r>
          </a:p>
          <a:p>
            <a:r>
              <a:rPr lang="en-IN" dirty="0"/>
              <a:t>    if n == 0 or n == 1:</a:t>
            </a:r>
          </a:p>
          <a:p>
            <a:r>
              <a:rPr lang="en-IN" dirty="0"/>
              <a:t>        return 1</a:t>
            </a:r>
          </a:p>
          <a:p>
            <a:r>
              <a:rPr lang="en-IN" dirty="0"/>
              <a:t>    return n * </a:t>
            </a:r>
            <a:r>
              <a:rPr lang="en-IN" dirty="0" err="1"/>
              <a:t>factorial_recursive</a:t>
            </a:r>
            <a:r>
              <a:rPr lang="en-IN" dirty="0"/>
              <a:t>(n - 1)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factorial_recursive</a:t>
            </a:r>
            <a:r>
              <a:rPr lang="en-IN" dirty="0"/>
              <a:t>(5))</a:t>
            </a:r>
          </a:p>
          <a:p>
            <a:r>
              <a:rPr lang="en-IN" dirty="0">
                <a:solidFill>
                  <a:srgbClr val="FF0000"/>
                </a:solidFill>
              </a:rPr>
              <a:t>Output</a:t>
            </a:r>
          </a:p>
          <a:p>
            <a:r>
              <a:rPr lang="en-IN" dirty="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403372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3274-F0CB-D900-B6D4-4232B365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ITERATIVE PYTHON:-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010B-5E0E-B94D-8FF0-5266AF89B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629"/>
            <a:ext cx="5072742" cy="65532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factorial_iterative</a:t>
            </a:r>
            <a:r>
              <a:rPr lang="en-US" dirty="0"/>
              <a:t>(n):</a:t>
            </a:r>
          </a:p>
          <a:p>
            <a:r>
              <a:rPr lang="en-US" dirty="0"/>
              <a:t>    result = 1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range(1, n + 1):</a:t>
            </a:r>
          </a:p>
          <a:p>
            <a:r>
              <a:rPr lang="en-US" dirty="0"/>
              <a:t>        result *=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return result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factorial_iterative</a:t>
            </a:r>
            <a:r>
              <a:rPr lang="en-US" dirty="0"/>
              <a:t>(5))</a:t>
            </a:r>
          </a:p>
          <a:p>
            <a:r>
              <a:rPr lang="en-US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120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73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3075-69E5-6A76-9E49-37FA6C53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COMPLEXITY ANALYSIS:-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051B0D-6560-5AEC-9DA5-3FD914290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055337"/>
              </p:ext>
            </p:extLst>
          </p:nvPr>
        </p:nvGraphicFramePr>
        <p:xfrm>
          <a:off x="838200" y="1825624"/>
          <a:ext cx="10515597" cy="290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6563339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443422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93321177"/>
                    </a:ext>
                  </a:extLst>
                </a:gridCol>
              </a:tblGrid>
              <a:tr h="581932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FETURE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RECURSIVE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ITERATIVE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7942"/>
                  </a:ext>
                </a:extLst>
              </a:tr>
              <a:tr h="581932">
                <a:tc>
                  <a:txBody>
                    <a:bodyPr/>
                    <a:lstStyle/>
                    <a:p>
                      <a:r>
                        <a:rPr lang="en-US" dirty="0"/>
                        <a:t>TIME COMPLEXITY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428827"/>
                  </a:ext>
                </a:extLst>
              </a:tr>
              <a:tr h="581932">
                <a:tc>
                  <a:txBody>
                    <a:bodyPr/>
                    <a:lstStyle/>
                    <a:p>
                      <a:r>
                        <a:rPr lang="en-US" dirty="0"/>
                        <a:t>SPACE COMPLEXITY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672893"/>
                  </a:ext>
                </a:extLst>
              </a:tr>
              <a:tr h="581932">
                <a:tc>
                  <a:txBody>
                    <a:bodyPr/>
                    <a:lstStyle/>
                    <a:p>
                      <a:r>
                        <a:rPr lang="en-US" dirty="0"/>
                        <a:t>STACK USAGE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CALL 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call stack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65924"/>
                  </a:ext>
                </a:extLst>
              </a:tr>
              <a:tr h="581932">
                <a:tc>
                  <a:txBody>
                    <a:bodyPr/>
                    <a:lstStyle/>
                    <a:p>
                      <a:r>
                        <a:rPr lang="en-US" dirty="0"/>
                        <a:t>MEMORY REQUIREMENT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934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754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5D93-C0A8-FD65-BB68-3B8CF09EA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65125"/>
            <a:ext cx="7445828" cy="2617561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Memory Comparison:-</a:t>
            </a:r>
            <a:br>
              <a:rPr lang="en-US" sz="2400" dirty="0"/>
            </a:br>
            <a:r>
              <a:rPr lang="en-US" sz="2400" dirty="0"/>
              <a:t>Recursive: Stores every function call in memory.</a:t>
            </a:r>
            <a:br>
              <a:rPr lang="en-US" sz="2400" dirty="0"/>
            </a:br>
            <a:r>
              <a:rPr lang="en-US" sz="2400" dirty="0"/>
              <a:t>F(5)</a:t>
            </a:r>
            <a:br>
              <a:rPr lang="en-US" sz="2400" dirty="0"/>
            </a:br>
            <a:r>
              <a:rPr lang="en-US" sz="2400" dirty="0"/>
              <a:t>F(4)</a:t>
            </a:r>
            <a:br>
              <a:rPr lang="en-US" sz="2400" dirty="0"/>
            </a:br>
            <a:r>
              <a:rPr lang="en-US" sz="2400" dirty="0"/>
              <a:t>F(3)</a:t>
            </a:r>
            <a:br>
              <a:rPr lang="en-US" sz="2400" dirty="0"/>
            </a:br>
            <a:r>
              <a:rPr lang="en-US" sz="2400" dirty="0"/>
              <a:t>F(2)</a:t>
            </a:r>
            <a:br>
              <a:rPr lang="en-US" sz="2400" dirty="0"/>
            </a:br>
            <a:r>
              <a:rPr lang="en-US" sz="2400" dirty="0"/>
              <a:t>F(1)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Space = O(n)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C392E-1415-D753-7A2F-AEB3F8445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3744685"/>
            <a:ext cx="10972799" cy="2432277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dirty="0">
                <a:solidFill>
                  <a:srgbClr val="C00000"/>
                </a:solidFill>
              </a:rPr>
              <a:t>Iterative: Uses only a few variables.</a:t>
            </a:r>
          </a:p>
          <a:p>
            <a:r>
              <a:rPr lang="en-US" sz="2600" dirty="0"/>
              <a:t>result</a:t>
            </a:r>
          </a:p>
          <a:p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n</a:t>
            </a:r>
          </a:p>
          <a:p>
            <a:endParaRPr lang="en-US" dirty="0"/>
          </a:p>
          <a:p>
            <a:r>
              <a:rPr lang="en-US" dirty="0"/>
              <a:t>Space = O(1)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7864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32A9-EE26-3D7C-6269-915685A1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Conclusion:-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37E80-65F6-26E9-B846-5638AE85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Both recursive and iterative methods have O(n) time complexity. However, recursion requires O(n) space because of the call stack, while iteration requires only O(1) extra space.</a:t>
            </a:r>
          </a:p>
          <a:p>
            <a:pPr>
              <a:lnSpc>
                <a:spcPct val="150000"/>
              </a:lnSpc>
            </a:pPr>
            <a:r>
              <a:rPr lang="en-US" dirty="0"/>
              <a:t> Therefore, the iterative method is preferred when memory efficiency is important, whereas recursion is useful for problems that are naturally recursive.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677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5F32-40BA-B67B-646A-D9FB81F5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D185-CE4E-EE20-BE18-A86144CD0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Thomas H. </a:t>
            </a:r>
            <a:r>
              <a:rPr lang="en-IN" dirty="0" err="1"/>
              <a:t>Cormen</a:t>
            </a:r>
            <a:r>
              <a:rPr lang="en-IN" dirty="0"/>
              <a:t> et al., Introduction to Algorithms.</a:t>
            </a:r>
          </a:p>
          <a:p>
            <a:r>
              <a:rPr lang="en-IN" dirty="0"/>
              <a:t>Ellis Horowitz &amp; Sartaj Sahni, Fundamentals of Data Structures.</a:t>
            </a:r>
          </a:p>
          <a:p>
            <a:r>
              <a:rPr lang="en-IN" dirty="0"/>
              <a:t>Python Documentation – </a:t>
            </a:r>
            <a:r>
              <a:rPr lang="en-IN" dirty="0">
                <a:hlinkClick r:id="rId2"/>
              </a:rPr>
              <a:t>https://docs.python</a:t>
            </a:r>
            <a:r>
              <a:rPr lang="en-IN" dirty="0"/>
              <a:t>.</a:t>
            </a:r>
          </a:p>
          <a:p>
            <a:r>
              <a:rPr lang="en-IN" dirty="0"/>
              <a:t>org⁠�</a:t>
            </a:r>
            <a:r>
              <a:rPr lang="en-IN" dirty="0" err="1"/>
              <a:t>GeeksforGeeks</a:t>
            </a:r>
            <a:r>
              <a:rPr lang="en-IN" dirty="0"/>
              <a:t> – https://www.geeksforgeeks.org⁠�</a:t>
            </a:r>
          </a:p>
        </p:txBody>
      </p:sp>
    </p:spTree>
    <p:extLst>
      <p:ext uri="{BB962C8B-B14F-4D97-AF65-F5344CB8AC3E}">
        <p14:creationId xmlns:p14="http://schemas.microsoft.com/office/powerpoint/2010/main" val="370417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2D2D5-FDEE-DA59-6E38-1C7DCD00F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9" y="108155"/>
            <a:ext cx="11975690" cy="647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95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C36A42-5DAE-C6B2-6FC9-C0FBB8E04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6143"/>
            <a:ext cx="10515600" cy="37882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7900" dirty="0"/>
              <a:t>THANK YOU</a:t>
            </a:r>
            <a:endParaRPr lang="en-IN" sz="17900" dirty="0"/>
          </a:p>
        </p:txBody>
      </p:sp>
    </p:spTree>
    <p:extLst>
      <p:ext uri="{BB962C8B-B14F-4D97-AF65-F5344CB8AC3E}">
        <p14:creationId xmlns:p14="http://schemas.microsoft.com/office/powerpoint/2010/main" val="75203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554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Space complexity of recursive vs iterative methods</vt:lpstr>
      <vt:lpstr>INTRUDUCTION</vt:lpstr>
      <vt:lpstr>ALGORITHM</vt:lpstr>
      <vt:lpstr>PowerPoint Presentation</vt:lpstr>
      <vt:lpstr>ARCHITECTURE DESIGN:-</vt:lpstr>
      <vt:lpstr>ALTERATIVE METHOD:-</vt:lpstr>
      <vt:lpstr>IMPLEMENTATION CODE:-</vt:lpstr>
      <vt:lpstr>ITERATIVE PYTHON:-</vt:lpstr>
      <vt:lpstr>COMPLEXITY ANALYSIS:-</vt:lpstr>
      <vt:lpstr>Memory Comparison:- Recursive: Stores every function call in memory. F(5) F(4) F(3) F(2) F(1)  Space = O(n)</vt:lpstr>
      <vt:lpstr>Conclusion:-</vt:lpstr>
      <vt:lpstr>References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Bharani Hemakumar</dc:creator>
  <cp:lastModifiedBy>Dinesh Karthik</cp:lastModifiedBy>
  <cp:revision>2</cp:revision>
  <dcterms:created xsi:type="dcterms:W3CDTF">2026-07-22T05:09:50Z</dcterms:created>
  <dcterms:modified xsi:type="dcterms:W3CDTF">2026-08-03T08:48:21Z</dcterms:modified>
</cp:coreProperties>
</file>